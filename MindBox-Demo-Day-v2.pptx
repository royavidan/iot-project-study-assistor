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חמש דקות. פותחים אנרגטי. 40 אחוז תוכן, 60 אחוז אתם: אנרגיה, קשר עין, טון.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פתיחה של 20 עד 30 שניות: ספרו רגע אמיתי שלכם, שבו התעוררתם אחרי שעתיים וגיליתם שלא התקדמתם. אם אין סיפור אישי, תארו לעצמכם בוקר רגיל של עבודה מהבית. סיפור נשאר בזיכרון הרבה יותר ממספרים.</a:t>
            </a:r>
          </a:p>
          <a:p>
            <a:r>
              <a:t>תמונה מומלצת: שולחן עבודה ביתי, טלפון מאיר ליד המקלדת.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תראו, אל תספרו: שימו תמונה אמיתית של הקופסה וצילום מסך אחד מהאפליקציה. אם אפשר, עשו דמו חי של 15 שניות ותתחילו סשן על הקופסה מול הקהל.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החליפו את המספרים במספרים אמיתיים שתחקרו, ואל תזרקו שוק של מיליארדים. אפשר לאמת במקורות עם פרפלקסיטי או נוטבוק אל אם. חישוב מלמטה למעלה נותן הרבה יותר אמינות.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אל תגידו שאין לכם תחרות, זה דגל אדום. גם לא לעשות כלום זו תחרות, וכבר כללנו אותה. הראו בגרות בניתוח הזירה.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מלאו את השמות והרקע שלכם. התמקדו בלמה אנחנו ולמה עכשיו, לא בקורות חיים. בשלב מוקדם משקיעים באנשים יותר מבמוצר.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סיימו במשפט החזון בעל פה, שסוגר את המעגל לשקף הראשון: שאף אחד לא יסיים עוד יום מול המסך בלי לדעת אם באמת עבד.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השאירו את משפט החזון על המסך כמה שניות. תודה.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138160" y="2331720"/>
            <a:ext cx="164592" cy="1828800"/>
          </a:xfrm>
          <a:prstGeom prst="rect">
            <a:avLst/>
          </a:prstGeom>
          <a:solidFill>
            <a:srgbClr val="E53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194560"/>
            <a:ext cx="7223760" cy="2194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8800" b="1">
                <a:solidFill>
                  <a:srgbClr val="F5F5F5"/>
                </a:solidFill>
                <a:latin typeface="Arial"/>
              </a:rPr>
              <a:t>MindBox</a:t>
            </a:r>
          </a:p>
          <a:p>
            <a:pPr algn="r" rtl="1">
              <a:lnSpc>
                <a:spcPct val="110000"/>
              </a:lnSpc>
              <a:spcAft>
                <a:spcPts val="0"/>
              </a:spcAft>
            </a:pPr>
            <a:r>
              <a:rPr sz="2600" b="0">
                <a:solidFill>
                  <a:srgbClr val="AAAAAA"/>
                </a:solidFill>
                <a:latin typeface="Arial"/>
              </a:rPr>
              <a:t>קופסה אחת על השולחן ששומרת אתכם בפוקוס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760720"/>
            <a:ext cx="1090879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10000"/>
              </a:lnSpc>
              <a:spcAft>
                <a:spcPts val="200"/>
              </a:spcAft>
            </a:pPr>
            <a:r>
              <a:rPr sz="1600" b="0">
                <a:solidFill>
                  <a:srgbClr val="AAAAAA"/>
                </a:solidFill>
                <a:latin typeface="Arial"/>
              </a:rPr>
              <a:t>דמו דיי</a:t>
            </a:r>
          </a:p>
          <a:p>
            <a:pPr algn="r" rtl="1">
              <a:lnSpc>
                <a:spcPct val="110000"/>
              </a:lnSpc>
              <a:spcAft>
                <a:spcPts val="0"/>
              </a:spcAft>
            </a:pPr>
            <a:r>
              <a:rPr sz="1600" b="0">
                <a:solidFill>
                  <a:srgbClr val="AAAAAA"/>
                </a:solidFill>
                <a:latin typeface="Arial"/>
              </a:rPr>
              <a:t>[שם המציג]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1554480"/>
            <a:ext cx="41148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3000" b="1">
                <a:solidFill>
                  <a:srgbClr val="262626"/>
                </a:solidFill>
                <a:latin typeface="Arial"/>
              </a:rP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08792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10000"/>
              </a:lnSpc>
              <a:spcAft>
                <a:spcPts val="0"/>
              </a:spcAft>
            </a:pPr>
            <a:r>
              <a:rPr sz="1800" b="1">
                <a:solidFill>
                  <a:srgbClr val="E5352B"/>
                </a:solidFill>
                <a:latin typeface="Arial"/>
              </a:rPr>
              <a:t>01  הבעיה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10908792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5000"/>
              </a:lnSpc>
              <a:spcAft>
                <a:spcPts val="200"/>
              </a:spcAft>
            </a:pPr>
            <a:r>
              <a:rPr sz="3400" b="1">
                <a:solidFill>
                  <a:srgbClr val="F5F5F5"/>
                </a:solidFill>
                <a:latin typeface="Arial"/>
              </a:rPr>
              <a:t>פתחתי את המחשב לשעה.</a:t>
            </a:r>
          </a:p>
          <a:p>
            <a:pPr algn="r" rtl="1">
              <a:lnSpc>
                <a:spcPct val="105000"/>
              </a:lnSpc>
              <a:spcAft>
                <a:spcPts val="200"/>
              </a:spcAft>
            </a:pPr>
            <a:r>
              <a:rPr sz="3400" b="1">
                <a:solidFill>
                  <a:srgbClr val="F5F5F5"/>
                </a:solidFill>
                <a:latin typeface="Arial"/>
              </a:rPr>
              <a:t>קמתי אחרי שלוש, בלי לזכור מה עשיתי.</a:t>
            </a:r>
          </a:p>
        </p:txBody>
      </p:sp>
      <p:sp>
        <p:nvSpPr>
          <p:cNvPr id="5" name="Rectangle 4"/>
          <p:cNvSpPr/>
          <p:nvPr/>
        </p:nvSpPr>
        <p:spPr>
          <a:xfrm>
            <a:off x="10177272" y="2788920"/>
            <a:ext cx="1371600" cy="54864"/>
          </a:xfrm>
          <a:prstGeom prst="rect">
            <a:avLst/>
          </a:prstGeom>
          <a:solidFill>
            <a:srgbClr val="E53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3108960"/>
            <a:ext cx="10908792" cy="3291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15000"/>
              </a:lnSpc>
              <a:spcAft>
                <a:spcPts val="1600"/>
              </a:spcAft>
            </a:pPr>
            <a:r>
              <a:rPr sz="2200" b="0">
                <a:solidFill>
                  <a:srgbClr val="F5F5F5"/>
                </a:solidFill>
                <a:latin typeface="Arial"/>
              </a:rPr>
              <a:t>•  עבודה ולמידה מהבית הפכו לדבר רגיל, אבל הריכוז לא הלך איתן.</a:t>
            </a:r>
          </a:p>
          <a:p>
            <a:pPr algn="r" rtl="1">
              <a:lnSpc>
                <a:spcPct val="115000"/>
              </a:lnSpc>
              <a:spcAft>
                <a:spcPts val="1600"/>
              </a:spcAft>
            </a:pPr>
            <a:r>
              <a:rPr sz="2200" b="0">
                <a:solidFill>
                  <a:srgbClr val="F5F5F5"/>
                </a:solidFill>
                <a:latin typeface="Arial"/>
              </a:rPr>
              <a:t>•  הטלפון, ההתראות והבית מושכים אותנו החוצה כל הזמן.</a:t>
            </a:r>
          </a:p>
          <a:p>
            <a:pPr algn="r" rtl="1">
              <a:lnSpc>
                <a:spcPct val="115000"/>
              </a:lnSpc>
              <a:spcAft>
                <a:spcPts val="1600"/>
              </a:spcAft>
            </a:pPr>
            <a:r>
              <a:rPr sz="2200" b="0">
                <a:solidFill>
                  <a:srgbClr val="F5F5F5"/>
                </a:solidFill>
                <a:latin typeface="Arial"/>
              </a:rPr>
              <a:t>•  ובסוף היום קשה אפילו לדעת אם באמת התקדמנו.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1554480"/>
            <a:ext cx="41148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3000" b="1">
                <a:solidFill>
                  <a:srgbClr val="262626"/>
                </a:solidFill>
                <a:latin typeface="Arial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08792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10000"/>
              </a:lnSpc>
              <a:spcAft>
                <a:spcPts val="0"/>
              </a:spcAft>
            </a:pPr>
            <a:r>
              <a:rPr sz="1800" b="1">
                <a:solidFill>
                  <a:srgbClr val="E5352B"/>
                </a:solidFill>
                <a:latin typeface="Arial"/>
              </a:rPr>
              <a:t>02  הפתרון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10908792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5000"/>
              </a:lnSpc>
              <a:spcAft>
                <a:spcPts val="200"/>
              </a:spcAft>
            </a:pPr>
            <a:r>
              <a:rPr sz="3800" b="1">
                <a:solidFill>
                  <a:srgbClr val="F5F5F5"/>
                </a:solidFill>
                <a:latin typeface="Arial"/>
              </a:rPr>
              <a:t>MindBox</a:t>
            </a:r>
          </a:p>
          <a:p>
            <a:pPr algn="r" rtl="1">
              <a:lnSpc>
                <a:spcPct val="105000"/>
              </a:lnSpc>
              <a:spcAft>
                <a:spcPts val="200"/>
              </a:spcAft>
            </a:pPr>
            <a:r>
              <a:rPr sz="3800" b="1">
                <a:solidFill>
                  <a:srgbClr val="F5F5F5"/>
                </a:solidFill>
                <a:latin typeface="Arial"/>
              </a:rPr>
              <a:t>קופסה אחת ששומרת אתכם בפוקוס.</a:t>
            </a:r>
          </a:p>
        </p:txBody>
      </p:sp>
      <p:sp>
        <p:nvSpPr>
          <p:cNvPr id="5" name="Rectangle 4"/>
          <p:cNvSpPr/>
          <p:nvPr/>
        </p:nvSpPr>
        <p:spPr>
          <a:xfrm>
            <a:off x="10177272" y="2788920"/>
            <a:ext cx="1371600" cy="54864"/>
          </a:xfrm>
          <a:prstGeom prst="rect">
            <a:avLst/>
          </a:prstGeom>
          <a:solidFill>
            <a:srgbClr val="E53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3108960"/>
            <a:ext cx="10908792" cy="3291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15000"/>
              </a:lnSpc>
              <a:spcAft>
                <a:spcPts val="1600"/>
              </a:spcAft>
            </a:pPr>
            <a:r>
              <a:rPr sz="2200" b="0">
                <a:solidFill>
                  <a:srgbClr val="F5F5F5"/>
                </a:solidFill>
                <a:latin typeface="Arial"/>
              </a:rPr>
              <a:t>•  טיימר חכם לעבודה והפסקות, בלי לגעת בטלפון.</a:t>
            </a:r>
          </a:p>
          <a:p>
            <a:pPr algn="r" rtl="1">
              <a:lnSpc>
                <a:spcPct val="115000"/>
              </a:lnSpc>
              <a:spcAft>
                <a:spcPts val="1600"/>
              </a:spcAft>
            </a:pPr>
            <a:r>
              <a:rPr sz="2200" b="0">
                <a:solidFill>
                  <a:srgbClr val="F5F5F5"/>
                </a:solidFill>
                <a:latin typeface="Arial"/>
              </a:rPr>
              <a:t>•  חיישנים מרגישים את הסביבה: רעש, תאורה, ואם קמתם מהכיסא.</a:t>
            </a:r>
          </a:p>
          <a:p>
            <a:pPr algn="r" rtl="1">
              <a:lnSpc>
                <a:spcPct val="115000"/>
              </a:lnSpc>
              <a:spcAft>
                <a:spcPts val="1600"/>
              </a:spcAft>
            </a:pPr>
            <a:r>
              <a:rPr sz="2200" b="0">
                <a:solidFill>
                  <a:srgbClr val="F5F5F5"/>
                </a:solidFill>
                <a:latin typeface="Arial"/>
              </a:rPr>
              <a:t>•  כשהריכוז נשבר, רטט עדין מחזיר אתכם פנימה.</a:t>
            </a:r>
          </a:p>
          <a:p>
            <a:pPr algn="r" rtl="1">
              <a:lnSpc>
                <a:spcPct val="115000"/>
              </a:lnSpc>
              <a:spcAft>
                <a:spcPts val="1600"/>
              </a:spcAft>
            </a:pPr>
            <a:r>
              <a:rPr sz="2200" b="0">
                <a:solidFill>
                  <a:srgbClr val="F5F5F5"/>
                </a:solidFill>
                <a:latin typeface="Arial"/>
              </a:rPr>
              <a:t>•  כל סשן נשמר, ובאפליקציה רואים מתי ואיפה עובדים הכי טוב.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1554480"/>
            <a:ext cx="41148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3000" b="1">
                <a:solidFill>
                  <a:srgbClr val="262626"/>
                </a:solidFill>
                <a:latin typeface="Arial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08792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10000"/>
              </a:lnSpc>
              <a:spcAft>
                <a:spcPts val="0"/>
              </a:spcAft>
            </a:pPr>
            <a:r>
              <a:rPr sz="1800" b="1">
                <a:solidFill>
                  <a:srgbClr val="E5352B"/>
                </a:solidFill>
                <a:latin typeface="Arial"/>
              </a:rPr>
              <a:t>03  השוק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10908792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5000"/>
              </a:lnSpc>
              <a:spcAft>
                <a:spcPts val="200"/>
              </a:spcAft>
            </a:pPr>
            <a:r>
              <a:rPr sz="3600" b="1">
                <a:solidFill>
                  <a:srgbClr val="F5F5F5"/>
                </a:solidFill>
                <a:latin typeface="Arial"/>
              </a:rPr>
              <a:t>אנשים שמתקשים להתרכז מול מסך,</a:t>
            </a:r>
          </a:p>
          <a:p>
            <a:pPr algn="r" rtl="1">
              <a:lnSpc>
                <a:spcPct val="105000"/>
              </a:lnSpc>
              <a:spcAft>
                <a:spcPts val="200"/>
              </a:spcAft>
            </a:pPr>
            <a:r>
              <a:rPr sz="3600" b="1">
                <a:solidFill>
                  <a:srgbClr val="F5F5F5"/>
                </a:solidFill>
                <a:latin typeface="Arial"/>
              </a:rPr>
              <a:t>וזה רק הולך וגדל.</a:t>
            </a:r>
          </a:p>
        </p:txBody>
      </p:sp>
      <p:sp>
        <p:nvSpPr>
          <p:cNvPr id="5" name="Rectangle 4"/>
          <p:cNvSpPr/>
          <p:nvPr/>
        </p:nvSpPr>
        <p:spPr>
          <a:xfrm>
            <a:off x="10177272" y="2788920"/>
            <a:ext cx="1371600" cy="54864"/>
          </a:xfrm>
          <a:prstGeom prst="rect">
            <a:avLst/>
          </a:prstGeom>
          <a:solidFill>
            <a:srgbClr val="E53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3108960"/>
            <a:ext cx="10908792" cy="3291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15000"/>
              </a:lnSpc>
              <a:spcAft>
                <a:spcPts val="1600"/>
              </a:spcAft>
            </a:pPr>
            <a:r>
              <a:rPr sz="2200" b="0">
                <a:solidFill>
                  <a:srgbClr val="F5F5F5"/>
                </a:solidFill>
                <a:latin typeface="Arial"/>
              </a:rPr>
              <a:t>•  למה דווקא עכשיו: מאז 2020 רובנו עובדים ולומדים מהבית, והקושי להתרכז הפך לכאב יומיומי.</a:t>
            </a:r>
          </a:p>
          <a:p>
            <a:pPr algn="r" rtl="1">
              <a:lnSpc>
                <a:spcPct val="115000"/>
              </a:lnSpc>
              <a:spcAft>
                <a:spcPts val="1600"/>
              </a:spcAft>
            </a:pPr>
            <a:r>
              <a:rPr sz="2200" b="0">
                <a:solidFill>
                  <a:srgbClr val="F5F5F5"/>
                </a:solidFill>
                <a:latin typeface="Arial"/>
              </a:rPr>
              <a:t>•  איך אנחנו מודדים את השוק: כמה אנשים עובדים מהבית, כמה מהם מחפשים פתרון, וכמה הם מוכנים לשלם.</a:t>
            </a:r>
          </a:p>
          <a:p>
            <a:pPr algn="r" rtl="1">
              <a:lnSpc>
                <a:spcPct val="115000"/>
              </a:lnSpc>
              <a:spcAft>
                <a:spcPts val="1600"/>
              </a:spcAft>
            </a:pPr>
            <a:r>
              <a:rPr sz="2200" b="0">
                <a:solidFill>
                  <a:srgbClr val="F5F5F5"/>
                </a:solidFill>
                <a:latin typeface="Arial"/>
              </a:rPr>
              <a:t>•  דוגמה: 2 מיליון עובדים מהבית, 5 אחוז מחפשים פתרון, מחיר של 300 שקל. יוצא שוק ראשון של בערך 30 מיליון שקל.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1554480"/>
            <a:ext cx="41148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3000" b="1">
                <a:solidFill>
                  <a:srgbClr val="262626"/>
                </a:solidFill>
                <a:latin typeface="Arial"/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08792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10000"/>
              </a:lnSpc>
              <a:spcAft>
                <a:spcPts val="0"/>
              </a:spcAft>
            </a:pPr>
            <a:r>
              <a:rPr sz="1800" b="1">
                <a:solidFill>
                  <a:srgbClr val="E5352B"/>
                </a:solidFill>
                <a:latin typeface="Arial"/>
              </a:rPr>
              <a:t>04  תחרות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10908792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5000"/>
              </a:lnSpc>
              <a:spcAft>
                <a:spcPts val="200"/>
              </a:spcAft>
            </a:pPr>
            <a:r>
              <a:rPr sz="3600" b="1">
                <a:solidFill>
                  <a:srgbClr val="F5F5F5"/>
                </a:solidFill>
                <a:latin typeface="Arial"/>
              </a:rPr>
              <a:t>איך מתרכזים היום,</a:t>
            </a:r>
          </a:p>
          <a:p>
            <a:pPr algn="r" rtl="1">
              <a:lnSpc>
                <a:spcPct val="105000"/>
              </a:lnSpc>
              <a:spcAft>
                <a:spcPts val="200"/>
              </a:spcAft>
            </a:pPr>
            <a:r>
              <a:rPr sz="3600" b="1">
                <a:solidFill>
                  <a:srgbClr val="F5F5F5"/>
                </a:solidFill>
                <a:latin typeface="Arial"/>
              </a:rPr>
              <a:t>ולמה זה לא מספיק.</a:t>
            </a:r>
          </a:p>
        </p:txBody>
      </p:sp>
      <p:sp>
        <p:nvSpPr>
          <p:cNvPr id="5" name="Rectangle 4"/>
          <p:cNvSpPr/>
          <p:nvPr/>
        </p:nvSpPr>
        <p:spPr>
          <a:xfrm>
            <a:off x="10177272" y="2788920"/>
            <a:ext cx="1371600" cy="54864"/>
          </a:xfrm>
          <a:prstGeom prst="rect">
            <a:avLst/>
          </a:prstGeom>
          <a:solidFill>
            <a:srgbClr val="E53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3108960"/>
            <a:ext cx="10908792" cy="3291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15000"/>
              </a:lnSpc>
              <a:spcAft>
                <a:spcPts val="1600"/>
              </a:spcAft>
            </a:pPr>
            <a:r>
              <a:rPr sz="2200" b="0">
                <a:solidFill>
                  <a:srgbClr val="F5F5F5"/>
                </a:solidFill>
                <a:latin typeface="Arial"/>
              </a:rPr>
              <a:t>•  אפליקציות פוקוס יושבות בטלפון, אותו מכשיר שמסיח אתכם מלכתחילה.</a:t>
            </a:r>
          </a:p>
          <a:p>
            <a:pPr algn="r" rtl="1">
              <a:lnSpc>
                <a:spcPct val="115000"/>
              </a:lnSpc>
              <a:spcAft>
                <a:spcPts val="1600"/>
              </a:spcAft>
            </a:pPr>
            <a:r>
              <a:rPr sz="2200" b="0">
                <a:solidFill>
                  <a:srgbClr val="F5F5F5"/>
                </a:solidFill>
                <a:latin typeface="Arial"/>
              </a:rPr>
              <a:t>•  טיימר רגיל מראה זמן, אבל לא יודע אם באמת התרכזתם.</a:t>
            </a:r>
          </a:p>
          <a:p>
            <a:pPr algn="r" rtl="1">
              <a:lnSpc>
                <a:spcPct val="115000"/>
              </a:lnSpc>
              <a:spcAft>
                <a:spcPts val="1600"/>
              </a:spcAft>
            </a:pPr>
            <a:r>
              <a:rPr sz="2200" b="0">
                <a:solidFill>
                  <a:srgbClr val="F5F5F5"/>
                </a:solidFill>
                <a:latin typeface="Arial"/>
              </a:rPr>
              <a:t>•  כוח רצון או טלפון בחדר אחר: הכי נפוץ, והכי פחות מחזיק לאורך זמן.</a:t>
            </a:r>
          </a:p>
          <a:p>
            <a:pPr algn="r" rtl="1">
              <a:lnSpc>
                <a:spcPct val="115000"/>
              </a:lnSpc>
              <a:spcAft>
                <a:spcPts val="1600"/>
              </a:spcAft>
            </a:pPr>
            <a:r>
              <a:rPr sz="2200" b="0">
                <a:solidFill>
                  <a:srgbClr val="F5F5F5"/>
                </a:solidFill>
                <a:latin typeface="Arial"/>
              </a:rPr>
              <a:t>•  אצלנו זה אחרת. MindBox הוא מכשיר נפרד מהטלפון, שמרגיש את הסביבה ונותן תמונת פוקוס אמיתית.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1554480"/>
            <a:ext cx="41148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3000" b="1">
                <a:solidFill>
                  <a:srgbClr val="262626"/>
                </a:solidFill>
                <a:latin typeface="Arial"/>
              </a:rP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08792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10000"/>
              </a:lnSpc>
              <a:spcAft>
                <a:spcPts val="0"/>
              </a:spcAft>
            </a:pPr>
            <a:r>
              <a:rPr sz="1800" b="1">
                <a:solidFill>
                  <a:srgbClr val="E5352B"/>
                </a:solidFill>
                <a:latin typeface="Arial"/>
              </a:rPr>
              <a:t>05  הצוות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10908792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5000"/>
              </a:lnSpc>
              <a:spcAft>
                <a:spcPts val="200"/>
              </a:spcAft>
            </a:pPr>
            <a:r>
              <a:rPr sz="3600" b="1">
                <a:solidFill>
                  <a:srgbClr val="F5F5F5"/>
                </a:solidFill>
                <a:latin typeface="Arial"/>
              </a:rPr>
              <a:t>בנינו את MindBox בעצמנו,</a:t>
            </a:r>
          </a:p>
          <a:p>
            <a:pPr algn="r" rtl="1">
              <a:lnSpc>
                <a:spcPct val="105000"/>
              </a:lnSpc>
              <a:spcAft>
                <a:spcPts val="200"/>
              </a:spcAft>
            </a:pPr>
            <a:r>
              <a:rPr sz="3600" b="1">
                <a:solidFill>
                  <a:srgbClr val="F5F5F5"/>
                </a:solidFill>
                <a:latin typeface="Arial"/>
              </a:rPr>
              <a:t>כי אנחנו חיים את הבעיה.</a:t>
            </a:r>
          </a:p>
        </p:txBody>
      </p:sp>
      <p:sp>
        <p:nvSpPr>
          <p:cNvPr id="5" name="Rectangle 4"/>
          <p:cNvSpPr/>
          <p:nvPr/>
        </p:nvSpPr>
        <p:spPr>
          <a:xfrm>
            <a:off x="10177272" y="2788920"/>
            <a:ext cx="1371600" cy="54864"/>
          </a:xfrm>
          <a:prstGeom prst="rect">
            <a:avLst/>
          </a:prstGeom>
          <a:solidFill>
            <a:srgbClr val="E53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3108960"/>
            <a:ext cx="10908792" cy="3291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15000"/>
              </a:lnSpc>
              <a:spcAft>
                <a:spcPts val="1600"/>
              </a:spcAft>
            </a:pPr>
            <a:r>
              <a:rPr sz="2200" b="0">
                <a:solidFill>
                  <a:srgbClr val="F5F5F5"/>
                </a:solidFill>
                <a:latin typeface="Arial"/>
              </a:rPr>
              <a:t>•  [שם]: [רקע קצר ורלוונטי, למשל בנה את החומרה והאפליקציה מאפס].</a:t>
            </a:r>
          </a:p>
          <a:p>
            <a:pPr algn="r" rtl="1">
              <a:lnSpc>
                <a:spcPct val="115000"/>
              </a:lnSpc>
              <a:spcAft>
                <a:spcPts val="1600"/>
              </a:spcAft>
            </a:pPr>
            <a:r>
              <a:rPr sz="2200" b="0">
                <a:solidFill>
                  <a:srgbClr val="F5F5F5"/>
                </a:solidFill>
                <a:latin typeface="Arial"/>
              </a:rPr>
              <a:t>•  בחודשים האחרונים בנינו הכול לבד: קופסה, חיישנים, ענן ואפליקציה.</a:t>
            </a:r>
          </a:p>
          <a:p>
            <a:pPr algn="r" rtl="1">
              <a:lnSpc>
                <a:spcPct val="115000"/>
              </a:lnSpc>
              <a:spcAft>
                <a:spcPts val="1600"/>
              </a:spcAft>
            </a:pPr>
            <a:r>
              <a:rPr sz="2200" b="0">
                <a:solidFill>
                  <a:srgbClr val="F5F5F5"/>
                </a:solidFill>
                <a:latin typeface="Arial"/>
              </a:rPr>
              <a:t>•  אנחנו המשתמשים הראשונים, ולכן יודעים בדיוק מה צריך לתקן.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1554480"/>
            <a:ext cx="41148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3000" b="1">
                <a:solidFill>
                  <a:srgbClr val="262626"/>
                </a:solidFill>
                <a:latin typeface="Arial"/>
              </a:rP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08792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10000"/>
              </a:lnSpc>
              <a:spcAft>
                <a:spcPts val="0"/>
              </a:spcAft>
            </a:pPr>
            <a:r>
              <a:rPr sz="1800" b="1">
                <a:solidFill>
                  <a:srgbClr val="E5352B"/>
                </a:solidFill>
                <a:latin typeface="Arial"/>
              </a:rPr>
              <a:t>06  הבקשה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10908792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5000"/>
              </a:lnSpc>
              <a:spcAft>
                <a:spcPts val="200"/>
              </a:spcAft>
            </a:pPr>
            <a:r>
              <a:rPr sz="3600" b="1">
                <a:solidFill>
                  <a:srgbClr val="F5F5F5"/>
                </a:solidFill>
                <a:latin typeface="Arial"/>
              </a:rPr>
              <a:t>מה אנחנו מחפשים:</a:t>
            </a:r>
          </a:p>
          <a:p>
            <a:pPr algn="r" rtl="1">
              <a:lnSpc>
                <a:spcPct val="105000"/>
              </a:lnSpc>
              <a:spcAft>
                <a:spcPts val="200"/>
              </a:spcAft>
            </a:pPr>
            <a:r>
              <a:rPr sz="3600" b="1">
                <a:solidFill>
                  <a:srgbClr val="F5F5F5"/>
                </a:solidFill>
                <a:latin typeface="Arial"/>
              </a:rPr>
              <a:t>שותף ראשון שינסה את MindBox.</a:t>
            </a:r>
          </a:p>
        </p:txBody>
      </p:sp>
      <p:sp>
        <p:nvSpPr>
          <p:cNvPr id="5" name="Rectangle 4"/>
          <p:cNvSpPr/>
          <p:nvPr/>
        </p:nvSpPr>
        <p:spPr>
          <a:xfrm>
            <a:off x="10177272" y="2788920"/>
            <a:ext cx="1371600" cy="54864"/>
          </a:xfrm>
          <a:prstGeom prst="rect">
            <a:avLst/>
          </a:prstGeom>
          <a:solidFill>
            <a:srgbClr val="E53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3108960"/>
            <a:ext cx="10908792" cy="3291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15000"/>
              </a:lnSpc>
              <a:spcAft>
                <a:spcPts val="1600"/>
              </a:spcAft>
            </a:pPr>
            <a:r>
              <a:rPr sz="2200" b="0">
                <a:solidFill>
                  <a:srgbClr val="F5F5F5"/>
                </a:solidFill>
                <a:latin typeface="Arial"/>
              </a:rPr>
              <a:t>•  מי מתאים: צוות שעובד מרחוק, מרחב עבודה משותף, או קבוצת לומדים.</a:t>
            </a:r>
          </a:p>
          <a:p>
            <a:pPr algn="r" rtl="1">
              <a:lnSpc>
                <a:spcPct val="115000"/>
              </a:lnSpc>
              <a:spcAft>
                <a:spcPts val="1600"/>
              </a:spcAft>
            </a:pPr>
            <a:r>
              <a:rPr sz="2200" b="0">
                <a:solidFill>
                  <a:srgbClr val="F5F5F5"/>
                </a:solidFill>
                <a:latin typeface="Arial"/>
              </a:rPr>
              <a:t>•  מה נצטרך: בין עשרה לעשרים משתמשים, לכמה שבועות.</a:t>
            </a:r>
          </a:p>
          <a:p>
            <a:pPr algn="r" rtl="1">
              <a:lnSpc>
                <a:spcPct val="115000"/>
              </a:lnSpc>
              <a:spcAft>
                <a:spcPts val="1600"/>
              </a:spcAft>
            </a:pPr>
            <a:r>
              <a:rPr sz="2200" b="0">
                <a:solidFill>
                  <a:srgbClr val="F5F5F5"/>
                </a:solidFill>
                <a:latin typeface="Arial"/>
              </a:rPr>
              <a:t>•  מה כולם מרוויחים: הם מקבלים כלי פוקוס אמיתי, ואנחנו מקבלים משוב וסיפור הצלחה ראשון.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184648" y="1965960"/>
            <a:ext cx="1828800" cy="54864"/>
          </a:xfrm>
          <a:prstGeom prst="rect">
            <a:avLst/>
          </a:prstGeom>
          <a:solidFill>
            <a:srgbClr val="E53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377440"/>
            <a:ext cx="10360152" cy="2194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rtl="1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F5F5"/>
                </a:solidFill>
                <a:latin typeface="Arial"/>
              </a:rPr>
              <a:t>שאף אחד לא יסיים עוד יום מול המסך</a:t>
            </a:r>
          </a:p>
          <a:p>
            <a:pPr algn="ctr" rtl="1">
              <a:lnSpc>
                <a:spcPct val="110000"/>
              </a:lnSpc>
              <a:spcAft>
                <a:spcPts val="0"/>
              </a:spcAft>
            </a:pPr>
            <a:r>
              <a:rPr sz="3000" b="1">
                <a:solidFill>
                  <a:srgbClr val="F5F5F5"/>
                </a:solidFill>
                <a:latin typeface="Arial"/>
              </a:rPr>
              <a:t>בלי לדעת אם באמת עבד.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029200"/>
            <a:ext cx="10360152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 rtl="1">
              <a:lnSpc>
                <a:spcPct val="110000"/>
              </a:lnSpc>
              <a:spcAft>
                <a:spcPts val="400"/>
              </a:spcAft>
            </a:pPr>
            <a:r>
              <a:rPr sz="1800" b="1">
                <a:solidFill>
                  <a:srgbClr val="F5F5F5"/>
                </a:solidFill>
                <a:latin typeface="Arial"/>
              </a:rPr>
              <a:t>תודה</a:t>
            </a:r>
          </a:p>
          <a:p>
            <a:pPr algn="ctr" rtl="1">
              <a:lnSpc>
                <a:spcPct val="110000"/>
              </a:lnSpc>
              <a:spcAft>
                <a:spcPts val="0"/>
              </a:spcAft>
            </a:pPr>
            <a:r>
              <a:rPr sz="1600" b="0">
                <a:solidFill>
                  <a:srgbClr val="AAAAAA"/>
                </a:solidFill>
                <a:latin typeface="Arial"/>
              </a:rPr>
              <a:t>[מייל או טלפון]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