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דקות. פותחים אנרגטי. 40% תוכן, 60% אתם — אנרגיה, קשר עין, טון.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פתיחה (20–30 שניות): ספרו רגע אמיתי שלכם שבו 'התעוררתם' אחרי שעתיים וגיליתם שלא התקדמתם. אם אין סיפור אישי — 'תארו לעצמכם בוקר רגיל של עבודה מהבית...'. סיפור נתקע בזיכרון הרבה יותר ממספרים.</a:t>
            </a:r>
          </a:p>
          <a:p>
            <a:r>
              <a:t>תמונה מומלצת: שולחן עבודה ביתי, טלפון מאיר ליד המקלדת.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'תראה לי, אל תספר לי': שימו תמונה אמיתית של הקופסה + צילום מסך אחד מהאפליקציה. אם אפשר — דמו חי של 15 שניות: מתחילים סשן על הקופסה מול הקהל.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החליפו את המספרים במספרים אמיתיים שתחקרו — אל תזרקו 'שוק של מיליארדים'. אמתו ב-Perplexity או ב-NotebookLM עם מקורות. חישוב bottom-up נותן הרבה יותר אמינות.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אל תגידו 'אין לנו תחרות' — זה דגל אדום. 'לא לעשות כלום' זו גם תחרות, וכבר כללנו אותה. הראו בגרות בניתוח הזירה.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מלאו את השמות והרקע שלכם. התמקדו ב'למה אנחנו ולמה עכשיו', לא ב-CV. בשלב מוקדם משקיעים באנשים יותר מבמוצר.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סיימו במשפט החזון (בעל פה) שסוגר את המעגל לשקף הראשון: 'שאף אחד לא יסיים עוד יום מול המסך בלי לדעת אם באמת עבד.'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השאירו את משפט החזון על המסך כמה שניות. תודה.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38160" y="2331720"/>
            <a:ext cx="164592" cy="1828800"/>
          </a:xfrm>
          <a:prstGeom prst="rect">
            <a:avLst/>
          </a:prstGeom>
          <a:solidFill>
            <a:srgbClr val="E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722376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8800" b="1">
                <a:solidFill>
                  <a:srgbClr val="F5F5F5"/>
                </a:solidFill>
                <a:latin typeface="Arial"/>
              </a:rPr>
              <a:t>MindBox</a:t>
            </a:r>
          </a:p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sz="2600" b="0">
                <a:solidFill>
                  <a:srgbClr val="AAAAAA"/>
                </a:solidFill>
                <a:latin typeface="Arial"/>
              </a:rPr>
              <a:t>קופסה אחת על השולחן ששומרת אתכם בפוקוס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0"/>
            <a:ext cx="1090879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AAAAAA"/>
                </a:solidFill>
                <a:latin typeface="Arial"/>
              </a:rPr>
              <a:t>Demo Day  ·  [שם המציג]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54480"/>
            <a:ext cx="4114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3000" b="1">
                <a:solidFill>
                  <a:srgbClr val="262626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E5352B"/>
                </a:solidFill>
                <a:latin typeface="Arial"/>
              </a:rPr>
              <a:t>01 — הבעיה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0879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400" b="1">
                <a:solidFill>
                  <a:srgbClr val="F5F5F5"/>
                </a:solidFill>
                <a:latin typeface="Arial"/>
              </a:rPr>
              <a:t>פתחתי את המחשב לשעה.</a:t>
            </a:r>
          </a:p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400" b="1">
                <a:solidFill>
                  <a:srgbClr val="F5F5F5"/>
                </a:solidFill>
                <a:latin typeface="Arial"/>
              </a:rPr>
              <a:t>קמתי אחרי שלוש — בלי לזכור מה עשיתי.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77272" y="2788920"/>
            <a:ext cx="1371600" cy="54864"/>
          </a:xfrm>
          <a:prstGeom prst="rect">
            <a:avLst/>
          </a:prstGeom>
          <a:solidFill>
            <a:srgbClr val="E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0879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עבודה ולמידה מהבית הפכו לרגילות. הריכוז — לא.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הטלפון, ההתראות והבית מושכים אותנו החוצה כל הזמן.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ובסוף היום קשה אפילו לדעת אם באמת התקדמנו.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54480"/>
            <a:ext cx="4114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3000" b="1">
                <a:solidFill>
                  <a:srgbClr val="262626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E5352B"/>
                </a:solidFill>
                <a:latin typeface="Arial"/>
              </a:rPr>
              <a:t>02 — הפתרון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0879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600" b="1">
                <a:solidFill>
                  <a:srgbClr val="F5F5F5"/>
                </a:solidFill>
                <a:latin typeface="Arial"/>
              </a:rPr>
              <a:t>MindBox — קופסה אחת</a:t>
            </a:r>
          </a:p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600" b="1">
                <a:solidFill>
                  <a:srgbClr val="F5F5F5"/>
                </a:solidFill>
                <a:latin typeface="Arial"/>
              </a:rPr>
              <a:t>ששומרת אתכם בפוקוס.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77272" y="2788920"/>
            <a:ext cx="1371600" cy="54864"/>
          </a:xfrm>
          <a:prstGeom prst="rect">
            <a:avLst/>
          </a:prstGeom>
          <a:solidFill>
            <a:srgbClr val="E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0879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טיימר חכם לעבודה והפסקות — בלי לגעת בטלפון.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חיישנים מרגישים את הסביבה: רעש, תאורה, ואם קמתם מהכיסא.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הריכוז נשבר? רטט עדין מחזיר אתכם פנימה.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כל סשן נשמר, ובאפליקציה רואים מתי ואיפה עובדים הכי טוב.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54480"/>
            <a:ext cx="4114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3000" b="1">
                <a:solidFill>
                  <a:srgbClr val="262626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E5352B"/>
                </a:solidFill>
                <a:latin typeface="Arial"/>
              </a:rPr>
              <a:t>03 — השוק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0879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600" b="1">
                <a:solidFill>
                  <a:srgbClr val="F5F5F5"/>
                </a:solidFill>
                <a:latin typeface="Arial"/>
              </a:rPr>
              <a:t>אנשים שמתקשים להתרכז</a:t>
            </a:r>
          </a:p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600" b="1">
                <a:solidFill>
                  <a:srgbClr val="F5F5F5"/>
                </a:solidFill>
                <a:latin typeface="Arial"/>
              </a:rPr>
              <a:t>מול מסך — וזה רק גדל.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77272" y="2788920"/>
            <a:ext cx="1371600" cy="54864"/>
          </a:xfrm>
          <a:prstGeom prst="rect">
            <a:avLst/>
          </a:prstGeom>
          <a:solidFill>
            <a:srgbClr val="E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0879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למה עכשיו: מאז 2020 עבודה ולמידה מרחוק הן ברירת המחדל. הריכוז הוא הכאב החדש.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איך מחשבים (bottom-up): עובדים/לומדים מרחוק × אחוז שמחפש פתרון × מחיר המוצר.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דוגמה להמחשה: 2M × 5% × ₪300 ≈ ₪30M שוק נגיש ראשון.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54480"/>
            <a:ext cx="4114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3000" b="1">
                <a:solidFill>
                  <a:srgbClr val="262626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E5352B"/>
                </a:solidFill>
                <a:latin typeface="Arial"/>
              </a:rPr>
              <a:t>04 — תחרות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0879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600" b="1">
                <a:solidFill>
                  <a:srgbClr val="F5F5F5"/>
                </a:solidFill>
                <a:latin typeface="Arial"/>
              </a:rPr>
              <a:t>איך מתרכזים היום —</a:t>
            </a:r>
          </a:p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600" b="1">
                <a:solidFill>
                  <a:srgbClr val="F5F5F5"/>
                </a:solidFill>
                <a:latin typeface="Arial"/>
              </a:rPr>
              <a:t>ולמה זה לא מספיק.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77272" y="2788920"/>
            <a:ext cx="1371600" cy="54864"/>
          </a:xfrm>
          <a:prstGeom prst="rect">
            <a:avLst/>
          </a:prstGeom>
          <a:solidFill>
            <a:srgbClr val="E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0879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אפליקציות פוקוס (Forest, פומודורו): חיות בטלפון — אותו מכשיר שמסיח.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טיימרים פיזיים: מראים זמן, לא יודעים אם באמת התרכזתם.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"כוח רצון" / טלפון בחדר אחר: הכי נפוץ, הכי פחות מחזיק.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MindBox: מכשיר נפרד מהטלפון, שמרגיש את הסביבה ונותן תמונת פוקוס אמיתית.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54480"/>
            <a:ext cx="4114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3000" b="1">
                <a:solidFill>
                  <a:srgbClr val="262626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E5352B"/>
                </a:solidFill>
                <a:latin typeface="Arial"/>
              </a:rPr>
              <a:t>05 — הצוות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0879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600" b="1">
                <a:solidFill>
                  <a:srgbClr val="F5F5F5"/>
                </a:solidFill>
                <a:latin typeface="Arial"/>
              </a:rPr>
              <a:t>בנינו את MindBox בעצמנו —</a:t>
            </a:r>
          </a:p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600" b="1">
                <a:solidFill>
                  <a:srgbClr val="F5F5F5"/>
                </a:solidFill>
                <a:latin typeface="Arial"/>
              </a:rPr>
              <a:t>כי אנחנו חיים את הבעיה.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77272" y="2788920"/>
            <a:ext cx="1371600" cy="54864"/>
          </a:xfrm>
          <a:prstGeom prst="rect">
            <a:avLst/>
          </a:prstGeom>
          <a:solidFill>
            <a:srgbClr val="E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0879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[שם] — [רקע קצר ורלוונטי, למשל: בנה/תה את החומרה והאפליקציה מאפס].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בחודשים האחרונים בנינו הכול לבד: קופסה, חיישנים, ענן ואפליקציה.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אנחנו המשתמשים הראשונים — ולכן יודעים בדיוק מה לתקן.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54480"/>
            <a:ext cx="4114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3000" b="1">
                <a:solidFill>
                  <a:srgbClr val="262626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E5352B"/>
                </a:solidFill>
                <a:latin typeface="Arial"/>
              </a:rPr>
              <a:t>06 — הבקשה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0879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600" b="1">
                <a:solidFill>
                  <a:srgbClr val="F5F5F5"/>
                </a:solidFill>
                <a:latin typeface="Arial"/>
              </a:rPr>
              <a:t>מה אנחנו מחפשים:</a:t>
            </a:r>
          </a:p>
          <a:p>
            <a:pPr algn="r" rtl="1">
              <a:lnSpc>
                <a:spcPct val="105000"/>
              </a:lnSpc>
              <a:spcAft>
                <a:spcPts val="200"/>
              </a:spcAft>
            </a:pPr>
            <a:r>
              <a:rPr sz="3600" b="1">
                <a:solidFill>
                  <a:srgbClr val="F5F5F5"/>
                </a:solidFill>
                <a:latin typeface="Arial"/>
              </a:rPr>
              <a:t>שותף ראשון שינסה את MindBox.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177272" y="2788920"/>
            <a:ext cx="1371600" cy="54864"/>
          </a:xfrm>
          <a:prstGeom prst="rect">
            <a:avLst/>
          </a:prstGeom>
          <a:solidFill>
            <a:srgbClr val="E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08792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מי מתאים: צוות שעובד מרחוק / מרחב עבודה משותף / קבוצת לומדים.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מה נצטרך: 10–20 משתמשים למשך כמה שבועות.</a:t>
            </a:r>
          </a:p>
          <a:p>
            <a:pPr algn="r" rtl="1">
              <a:lnSpc>
                <a:spcPct val="115000"/>
              </a:lnSpc>
              <a:spcAft>
                <a:spcPts val="1600"/>
              </a:spcAft>
            </a:pPr>
            <a:r>
              <a:rPr sz="2200" b="0">
                <a:solidFill>
                  <a:srgbClr val="F5F5F5"/>
                </a:solidFill>
                <a:latin typeface="Arial"/>
              </a:rPr>
              <a:t>•  מה כולם מרוויחים: הם — כלי פוקוס אמיתי; אנחנו — משוב וסיפור הצלחה ראשון.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84648" y="1965960"/>
            <a:ext cx="1828800" cy="54864"/>
          </a:xfrm>
          <a:prstGeom prst="rect">
            <a:avLst/>
          </a:prstGeom>
          <a:solidFill>
            <a:srgbClr val="E53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0152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F5F5"/>
                </a:solidFill>
                <a:latin typeface="Arial"/>
              </a:rPr>
              <a:t>שאף אחד לא יסיים עוד יום מול המסך</a:t>
            </a:r>
          </a:p>
          <a:p>
            <a:pPr algn="ctr" rtl="1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F5F5F5"/>
                </a:solidFill>
                <a:latin typeface="Arial"/>
              </a:rPr>
              <a:t>בלי לדעת אם באמת עבד.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0">
                <a:solidFill>
                  <a:srgbClr val="AAAAAA"/>
                </a:solidFill>
                <a:latin typeface="Arial"/>
              </a:rPr>
              <a:t>תודה  ·  MindBox  ·  [מייל / טלפון]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